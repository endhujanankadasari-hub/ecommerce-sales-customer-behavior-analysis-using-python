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E64556-5B1D-45B3-BEBC-651F4C03DF1B}">
  <a:tblStyle styleId="{FAE64556-5B1D-45B3-BEBC-651F4C03DF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22b8a39233f51588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22b8a39233f51588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22b8a39233f5158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22b8a39233f5158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22b8a39233f5158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22b8a39233f5158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22b8a39233f5158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22b8a39233f5158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22b8a39233f5158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22b8a39233f5158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22b8a39233f51588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22b8a39233f5158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22b8a39233f5158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22b8a39233f5158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22b8a39233f51588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22b8a39233f51588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SPA9wsRK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0300"/>
            <a:ext cx="92091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Project Overview 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8177">
                <a:solidFill>
                  <a:srgbClr val="3D85C6"/>
                </a:solidFill>
              </a:rPr>
              <a:t>Objective</a:t>
            </a:r>
            <a:endParaRPr sz="8177">
              <a:solidFill>
                <a:srgbClr val="3D85C6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617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7237"/>
              <a:t>Analyze e-commerce transaction data to understand sales performance and customer purchasing behavior.</a:t>
            </a:r>
            <a:endParaRPr sz="723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7237"/>
              <a:t>Key Objectives</a:t>
            </a:r>
            <a:endParaRPr sz="723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7237"/>
              <a:t>Analyze sales trends and revenue</a:t>
            </a:r>
            <a:endParaRPr sz="723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7237"/>
              <a:t>Identify popular products and markets</a:t>
            </a:r>
            <a:endParaRPr sz="723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7237"/>
              <a:t>Understand customer behavior</a:t>
            </a:r>
            <a:endParaRPr sz="7237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7237"/>
              <a:t>Segment customers using RFM analysis</a:t>
            </a:r>
            <a:endParaRPr sz="7237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-169575" y="279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20">
                <a:solidFill>
                  <a:srgbClr val="0B5394"/>
                </a:solidFill>
              </a:rPr>
              <a:t>                              </a:t>
            </a:r>
            <a:r>
              <a:rPr lang="en-GB" sz="3020">
                <a:solidFill>
                  <a:srgbClr val="0B5394"/>
                </a:solidFill>
              </a:rPr>
              <a:t>Dataset &amp; Methodology </a:t>
            </a:r>
            <a:endParaRPr sz="3020">
              <a:solidFill>
                <a:srgbClr val="0B5394"/>
              </a:solidFill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</a:rPr>
              <a:t>      </a:t>
            </a:r>
            <a:r>
              <a:rPr lang="en-GB" sz="2400">
                <a:solidFill>
                  <a:schemeClr val="dk1"/>
                </a:solidFill>
              </a:rPr>
              <a:t>Dataset Information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• UCI Online Retail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• Online transactions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• Product and customer data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          </a:t>
            </a:r>
            <a:r>
              <a:rPr lang="en-GB" sz="2400">
                <a:solidFill>
                  <a:schemeClr val="dk1"/>
                </a:solidFill>
              </a:rPr>
              <a:t>Analysis Workflow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1. Data cleaning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2. Exploratory analysis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3. Sales and customer analysis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4. RFM segmentation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-605700" y="46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20"/>
              <a:t>                          </a:t>
            </a:r>
            <a:r>
              <a:rPr lang="en-GB" sz="3220">
                <a:solidFill>
                  <a:srgbClr val="3D85C6"/>
                </a:solidFill>
              </a:rPr>
              <a:t>        </a:t>
            </a:r>
            <a:r>
              <a:rPr lang="en-GB" sz="3220">
                <a:solidFill>
                  <a:srgbClr val="0B5394"/>
                </a:solidFill>
              </a:rPr>
              <a:t>Key Findings </a:t>
            </a:r>
            <a:endParaRPr sz="3220">
              <a:solidFill>
                <a:srgbClr val="0B5394"/>
              </a:solidFill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3511775" y="1032700"/>
            <a:ext cx="26619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00525" y="1032700"/>
            <a:ext cx="14289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200525" y="1213300"/>
            <a:ext cx="27975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952500" y="136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{FAE64556-5B1D-45B3-BEBC-651F4C03DF1B}</a:tableStyleId>
              </a:tblPr>
              <a:tblGrid>
                <a:gridCol w="3619500"/>
                <a:gridCol w="3619500"/>
              </a:tblGrid>
              <a:tr h="1035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600">
                          <a:solidFill>
                            <a:schemeClr val="dk1"/>
                          </a:solidFill>
                        </a:rPr>
                        <a:t>£10.67M</a:t>
                      </a:r>
                      <a:endParaRPr b="1" sz="2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Total Revenue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600">
                          <a:solidFill>
                            <a:schemeClr val="dk1"/>
                          </a:solidFill>
                        </a:rPr>
                        <a:t>4,338</a:t>
                      </a:r>
                      <a:endParaRPr b="1" sz="2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Unique Customers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035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600">
                          <a:solidFill>
                            <a:schemeClr val="dk1"/>
                          </a:solidFill>
                        </a:rPr>
                        <a:t>Nov 2011</a:t>
                      </a:r>
                      <a:endParaRPr b="1" sz="2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Highest-Revenue Month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600">
                          <a:solidFill>
                            <a:schemeClr val="dk1"/>
                          </a:solidFill>
                        </a:rPr>
                        <a:t>United Kingdom</a:t>
                      </a:r>
                      <a:endParaRPr b="1" sz="2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Top Country by Revenue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8438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                                    </a:t>
            </a:r>
            <a:r>
              <a:rPr lang="en-GB" sz="3356">
                <a:solidFill>
                  <a:srgbClr val="0B5394"/>
                </a:solidFill>
              </a:rPr>
              <a:t>Sales Analysis </a:t>
            </a:r>
            <a:endParaRPr sz="3356">
              <a:solidFill>
                <a:srgbClr val="0B5394"/>
              </a:solidFill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3999900" cy="22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832400" y="1152475"/>
            <a:ext cx="3999900" cy="20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01_monthly_sales_tr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17175"/>
            <a:ext cx="3999898" cy="257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02_top_10_product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2400" y="716375"/>
            <a:ext cx="3999898" cy="2497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" name="Google Shape;86;p17"/>
          <p:cNvGraphicFramePr/>
          <p:nvPr/>
        </p:nvGraphicFramePr>
        <p:xfrm>
          <a:off x="516375" y="363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{FAE64556-5B1D-45B3-BEBC-651F4C03DF1B}</a:tableStyleId>
              </a:tblPr>
              <a:tblGrid>
                <a:gridCol w="7524725"/>
              </a:tblGrid>
              <a:tr h="1409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rgbClr val="3D85C6"/>
                          </a:solidFill>
                        </a:rPr>
                        <a:t>November 2011 Revenue</a:t>
                      </a:r>
                      <a:endParaRPr sz="2200">
                        <a:solidFill>
                          <a:srgbClr val="3D85C6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2200">
                          <a:solidFill>
                            <a:srgbClr val="6FA8DC"/>
                          </a:solidFill>
                        </a:rPr>
                        <a:t>£1,509,496.33</a:t>
                      </a:r>
                      <a:endParaRPr b="1" sz="2200">
                        <a:solidFill>
                          <a:srgbClr val="6FA8DC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47845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B5394"/>
                </a:solidFill>
              </a:rPr>
              <a:t>Customer Analysis &amp; RFM Segmentation </a:t>
            </a:r>
            <a:endParaRPr>
              <a:solidFill>
                <a:srgbClr val="0B5394"/>
              </a:solidFill>
            </a:endParaRPr>
          </a:p>
        </p:txBody>
      </p:sp>
      <p:pic>
        <p:nvPicPr>
          <p:cNvPr id="92" name="Google Shape;92;p18" title="04_top_10_custome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65075"/>
            <a:ext cx="4080998" cy="249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05_customer_segments.png"/>
          <p:cNvPicPr preferRelativeResize="0"/>
          <p:nvPr/>
        </p:nvPicPr>
        <p:blipFill rotWithShape="1">
          <a:blip r:embed="rId4">
            <a:alphaModFix/>
          </a:blip>
          <a:srcRect b="19724" l="0" r="0" t="0"/>
          <a:stretch/>
        </p:blipFill>
        <p:spPr>
          <a:xfrm>
            <a:off x="4498150" y="485500"/>
            <a:ext cx="4360576" cy="274254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616500" y="3348789"/>
            <a:ext cx="3689700" cy="20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Customer Analysis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Identified the top 10 customers by revenue.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Examined customer purchasing contributions.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Used RFM analysis to segment customers.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Recency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Frequency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Monetary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4832675" y="3499175"/>
            <a:ext cx="34590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Business Value:</a:t>
            </a:r>
            <a:r>
              <a:rPr lang="en-GB" sz="1200">
                <a:solidFill>
                  <a:schemeClr val="dk1"/>
                </a:solidFill>
              </a:rPr>
              <a:t> Helps businesses plan customer retention and targeted marketing campaigns.</a:t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623400" y="12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56"/>
              <a:t>             Business Recommendations</a:t>
            </a:r>
            <a:r>
              <a:rPr lang="en-GB"/>
              <a:t> </a:t>
            </a:r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0" y="1070250"/>
            <a:ext cx="4099800" cy="126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1. Inventory Planning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/>
              <a:t>Maintain sufficient stock of popular products to help meet customer demand.</a:t>
            </a:r>
            <a:endParaRPr sz="1500">
              <a:solidFill>
                <a:srgbClr val="6FA8DC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4411600" y="1070250"/>
            <a:ext cx="4586700" cy="126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2. Seasonal Planning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/>
              <a:t>Prepare inventory and promotions ahead of peak sales periods, such as November.</a:t>
            </a:r>
            <a:endParaRPr sz="1500"/>
          </a:p>
        </p:txBody>
      </p:sp>
      <p:sp>
        <p:nvSpPr>
          <p:cNvPr id="103" name="Google Shape;103;p19"/>
          <p:cNvSpPr/>
          <p:nvPr/>
        </p:nvSpPr>
        <p:spPr>
          <a:xfrm>
            <a:off x="0" y="3002875"/>
            <a:ext cx="4099800" cy="11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3. Customer Loyalty</a:t>
            </a:r>
            <a:endParaRPr sz="1800">
              <a:solidFill>
                <a:srgbClr val="6D9EEB"/>
              </a:solidFill>
              <a:highlight>
                <a:srgbClr val="B6D7A8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/>
              <a:t>Use loyalty rewards and personalized offers to encourage repeat purchases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4572000" y="2942700"/>
            <a:ext cx="4338600" cy="11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4. Customer Retention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/>
              <a:t>Use RFM segments to identify customers who may benefit from re-engagement campaigns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0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54301" cy="50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